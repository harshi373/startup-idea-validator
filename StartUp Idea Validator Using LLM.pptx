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258" r:id="rId4"/>
    <p:sldId id="257" r:id="rId5"/>
    <p:sldId id="259" r:id="rId6"/>
    <p:sldId id="267" r:id="rId7"/>
    <p:sldId id="268" r:id="rId8"/>
    <p:sldId id="269" r:id="rId9"/>
    <p:sldId id="270" r:id="rId10"/>
    <p:sldId id="271" r:id="rId11"/>
    <p:sldId id="272" r:id="rId12"/>
    <p:sldId id="273" r:id="rId13"/>
    <p:sldId id="260" r:id="rId14"/>
    <p:sldId id="261" r:id="rId15"/>
    <p:sldId id="262" r:id="rId16"/>
    <p:sldId id="263" r:id="rId17"/>
    <p:sldId id="274" r:id="rId18"/>
    <p:sldId id="264" r:id="rId19"/>
    <p:sldId id="265" r:id="rId20"/>
    <p:sldId id="266"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1" autoAdjust="0"/>
    <p:restoredTop sz="94660"/>
  </p:normalViewPr>
  <p:slideViewPr>
    <p:cSldViewPr snapToGrid="0">
      <p:cViewPr varScale="1">
        <p:scale>
          <a:sx n="53" d="100"/>
          <a:sy n="53" d="100"/>
        </p:scale>
        <p:origin x="180" y="5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4" Type="http://schemas.openxmlformats.org/officeDocument/2006/relationships/tableStyles" Target="tableStyles.xml"/><Relationship Id="rId23" Type="http://schemas.openxmlformats.org/officeDocument/2006/relationships/viewProps" Target="viewProps.xml"/><Relationship Id="rId22" Type="http://schemas.openxmlformats.org/officeDocument/2006/relationships/presProps" Target="presProps.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63A1C593-65D0-4073-BCC9-577B9352EA97}"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63A1C593-65D0-4073-BCC9-577B9352EA97}"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3A1C593-65D0-4073-BCC9-577B9352EA97}"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rotWithShape="0">
          <a:gsLst>
            <a:gs pos="57000">
              <a:srgbClr val="F6FAFD">
                <a:alpha val="100000"/>
              </a:srgbClr>
            </a:gs>
            <a:gs pos="72000">
              <a:srgbClr val="EDF4FB">
                <a:alpha val="100000"/>
              </a:srgbClr>
            </a:gs>
            <a:gs pos="73000">
              <a:srgbClr val="DAE9F6">
                <a:alpha val="100000"/>
              </a:srgbClr>
            </a:gs>
            <a:gs pos="70000">
              <a:srgbClr val="DAE9F6">
                <a:alpha val="100000"/>
              </a:srgbClr>
            </a:gs>
            <a:gs pos="0">
              <a:schemeClr val="bg1"/>
            </a:gs>
            <a:gs pos="42000">
              <a:schemeClr val="accent1">
                <a:lumMod val="45000"/>
                <a:lumOff val="55000"/>
              </a:schemeClr>
            </a:gs>
            <a:gs pos="83000">
              <a:schemeClr val="accent1">
                <a:lumMod val="45000"/>
                <a:lumOff val="55000"/>
              </a:schemeClr>
            </a:gs>
            <a:gs pos="100000">
              <a:schemeClr val="accent1">
                <a:lumMod val="30000"/>
                <a:lumOff val="70000"/>
              </a:schemeClr>
            </a:gs>
          </a:gsLst>
          <a:path path="circle">
            <a:fillToRect l="100000" b="100000"/>
          </a:path>
          <a:tileRect t="-100000" r="-100000"/>
        </a:gra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3A1C593-65D0-4073-BCC9-577B9352EA97}" type="datetimeFigureOut">
              <a:rPr lang="en-US" smtClean="0"/>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B618960-8005-486C-9A75-10CB2AAC16F9}"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b="1" dirty="0"/>
              <a:t>StartUp Idea Validator Using LLM</a:t>
            </a:r>
            <a:endParaRPr lang="en-US" b="1" dirty="0"/>
          </a:p>
        </p:txBody>
      </p:sp>
      <p:sp>
        <p:nvSpPr>
          <p:cNvPr id="3" name="Subtitle 2"/>
          <p:cNvSpPr>
            <a:spLocks noGrp="1"/>
          </p:cNvSpPr>
          <p:nvPr>
            <p:ph type="subTitle" idx="1"/>
          </p:nvPr>
        </p:nvSpPr>
        <p:spPr>
          <a:xfrm>
            <a:off x="1524000" y="4423410"/>
            <a:ext cx="9144000" cy="834390"/>
          </a:xfrm>
        </p:spPr>
        <p:txBody>
          <a:bodyPr/>
          <a:lstStyle/>
          <a:p>
            <a:r>
              <a:rPr lang="en-US"/>
              <a:t>K.Harshitha N200373</a:t>
            </a:r>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GB" b="1"/>
              <a:t>Abstract</a:t>
            </a:r>
            <a:endParaRPr lang="en-US" altLang="en-GB" b="1"/>
          </a:p>
        </p:txBody>
      </p:sp>
      <p:sp>
        <p:nvSpPr>
          <p:cNvPr id="3" name="Content Placeholder 2"/>
          <p:cNvSpPr>
            <a:spLocks noGrp="1"/>
          </p:cNvSpPr>
          <p:nvPr>
            <p:ph idx="1"/>
          </p:nvPr>
        </p:nvSpPr>
        <p:spPr/>
        <p:txBody>
          <a:bodyPr/>
          <a:p>
            <a:pPr marL="0" indent="0">
              <a:buNone/>
            </a:pPr>
            <a:r>
              <a:rPr lang="en-US" altLang="en-GB"/>
              <a:t>An AI-powered tool that evaluates startup ideas using Large Language Models (LLMs). It takes natural language input and generates structured insights like market potential, competitor analysis, SWOT, monetization strategies, and MVP features. Built with Python and Streamlit, it uses prompt engineering to interact with LLM APIs and deliver real-time, actionable business analysis. This project showcases AI’s role in early-stage startup validation, business planning, and decision support.</a:t>
            </a:r>
            <a:endParaRPr lang="en-US" altLang="en-GB"/>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GB" b="1"/>
              <a:t>Motivation</a:t>
            </a:r>
            <a:endParaRPr lang="en-US" altLang="en-GB" b="1"/>
          </a:p>
        </p:txBody>
      </p:sp>
      <p:sp>
        <p:nvSpPr>
          <p:cNvPr id="3" name="Content Placeholder 2"/>
          <p:cNvSpPr>
            <a:spLocks noGrp="1"/>
          </p:cNvSpPr>
          <p:nvPr>
            <p:ph idx="1"/>
          </p:nvPr>
        </p:nvSpPr>
        <p:spPr/>
        <p:txBody>
          <a:bodyPr/>
          <a:p>
            <a:pPr marL="0" indent="0">
              <a:buNone/>
            </a:pPr>
            <a:r>
              <a:rPr lang="en-US" altLang="en-GB"/>
              <a:t>Validating startup ideas is a critical yet challenging step for early-stage entrepreneurs, especially those without access to expert analysts or market research resources. Traditional validation methods are time-consuming and require domain expertise, often leading to abandoned ideas or poorly executed ventures. This project addresses that gap by proposing an AI-powered Startup Idea Validator that uses Large Language Models (LLMs) to analyze user-submitted ideas and provide structured insights like SWOT, market potential, monetization strategies, and competitor analysis. It empowers founders to make informed decisions quickly, reducing risk and democratizing access to business validation.</a:t>
            </a:r>
            <a:endParaRPr lang="en-US" altLang="en-GB"/>
          </a:p>
          <a:p>
            <a:endParaRPr lang="en-US" altLang="en-GB"/>
          </a:p>
          <a:p>
            <a:endParaRPr lang="en-US" altLang="en-GB"/>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360045" y="260985"/>
            <a:ext cx="10515600" cy="991235"/>
          </a:xfrm>
        </p:spPr>
        <p:txBody>
          <a:bodyPr/>
          <a:p>
            <a:r>
              <a:rPr lang="en-US" altLang="en-GB"/>
              <a:t>Proposed Model &amp;Workflow</a:t>
            </a:r>
            <a:endParaRPr lang="en-US" altLang="en-GB"/>
          </a:p>
        </p:txBody>
      </p:sp>
      <p:sp>
        <p:nvSpPr>
          <p:cNvPr id="3" name="Content Placeholder 2"/>
          <p:cNvSpPr>
            <a:spLocks noGrp="1"/>
          </p:cNvSpPr>
          <p:nvPr>
            <p:ph idx="1"/>
          </p:nvPr>
        </p:nvSpPr>
        <p:spPr>
          <a:xfrm>
            <a:off x="360045" y="981710"/>
            <a:ext cx="10993755" cy="6019800"/>
          </a:xfrm>
        </p:spPr>
        <p:txBody>
          <a:bodyPr>
            <a:noAutofit/>
          </a:bodyPr>
          <a:p>
            <a:pPr marL="0" indent="0" fontAlgn="auto">
              <a:lnSpc>
                <a:spcPct val="100000"/>
              </a:lnSpc>
              <a:spcBef>
                <a:spcPts val="0"/>
              </a:spcBef>
              <a:buNone/>
            </a:pPr>
            <a:r>
              <a:rPr lang="en-US" altLang="en-GB" sz="2400"/>
              <a:t>The Startup Idea Validator follows a lightweight client-server architecture using hosted LLMs and consists of four main modules:</a:t>
            </a:r>
            <a:endParaRPr lang="en-US" altLang="en-GB" sz="2400"/>
          </a:p>
          <a:p>
            <a:pPr marL="0" indent="0" fontAlgn="auto">
              <a:lnSpc>
                <a:spcPct val="100000"/>
              </a:lnSpc>
              <a:spcBef>
                <a:spcPts val="0"/>
              </a:spcBef>
              <a:buNone/>
            </a:pPr>
            <a:r>
              <a:rPr lang="en-US" altLang="en-GB" sz="2400" b="1"/>
              <a:t>User Interface (Streamlit)</a:t>
            </a:r>
            <a:endParaRPr lang="en-US" altLang="en-GB" sz="2400"/>
          </a:p>
          <a:p>
            <a:pPr marL="0" indent="0" fontAlgn="auto">
              <a:lnSpc>
                <a:spcPct val="100000"/>
              </a:lnSpc>
              <a:spcBef>
                <a:spcPts val="0"/>
              </a:spcBef>
              <a:buNone/>
            </a:pPr>
            <a:r>
              <a:rPr lang="en-US" altLang="en-GB" sz="2400"/>
              <a:t>Takes natural language input of startup idea</a:t>
            </a:r>
            <a:endParaRPr lang="en-US" altLang="en-GB" sz="2400"/>
          </a:p>
          <a:p>
            <a:pPr marL="0" indent="0" fontAlgn="auto">
              <a:lnSpc>
                <a:spcPct val="100000"/>
              </a:lnSpc>
              <a:spcBef>
                <a:spcPts val="0"/>
              </a:spcBef>
              <a:buNone/>
            </a:pPr>
            <a:r>
              <a:rPr lang="en-US" altLang="en-GB" sz="2400"/>
              <a:t>Displays structured feedback to the user</a:t>
            </a:r>
            <a:endParaRPr lang="en-US" altLang="en-GB" sz="2400"/>
          </a:p>
          <a:p>
            <a:pPr marL="0" indent="0" fontAlgn="auto">
              <a:lnSpc>
                <a:spcPct val="100000"/>
              </a:lnSpc>
              <a:spcBef>
                <a:spcPts val="0"/>
              </a:spcBef>
              <a:buNone/>
            </a:pPr>
            <a:r>
              <a:rPr lang="en-US" altLang="en-GB" sz="2400" b="1"/>
              <a:t>Prompt Engineering</a:t>
            </a:r>
            <a:endParaRPr lang="en-US" altLang="en-GB" sz="2400"/>
          </a:p>
          <a:p>
            <a:pPr marL="0" indent="0" fontAlgn="auto">
              <a:lnSpc>
                <a:spcPct val="100000"/>
              </a:lnSpc>
              <a:spcBef>
                <a:spcPts val="0"/>
              </a:spcBef>
              <a:buNone/>
            </a:pPr>
            <a:r>
              <a:rPr lang="en-US" altLang="en-GB" sz="2400"/>
              <a:t>Transforms user input into a structured prompt</a:t>
            </a:r>
            <a:endParaRPr lang="en-US" altLang="en-GB" sz="2400"/>
          </a:p>
          <a:p>
            <a:pPr marL="0" indent="0" fontAlgn="auto">
              <a:lnSpc>
                <a:spcPct val="100000"/>
              </a:lnSpc>
              <a:spcBef>
                <a:spcPts val="0"/>
              </a:spcBef>
              <a:buNone/>
            </a:pPr>
            <a:r>
              <a:rPr lang="en-US" altLang="en-GB" sz="2400"/>
              <a:t>Specifies desired outputs (e.g., Market, SWOT, Competitors, Monetization, MVP)</a:t>
            </a:r>
            <a:endParaRPr lang="en-US" altLang="en-GB" sz="2400"/>
          </a:p>
          <a:p>
            <a:pPr marL="0" indent="0" fontAlgn="auto">
              <a:lnSpc>
                <a:spcPct val="100000"/>
              </a:lnSpc>
              <a:spcBef>
                <a:spcPts val="0"/>
              </a:spcBef>
              <a:buNone/>
            </a:pPr>
            <a:r>
              <a:rPr lang="en-US" altLang="en-GB" sz="2400" b="1"/>
              <a:t>LLM Interaction</a:t>
            </a:r>
            <a:endParaRPr lang="en-US" altLang="en-GB" sz="2400"/>
          </a:p>
          <a:p>
            <a:pPr marL="0" indent="0" fontAlgn="auto">
              <a:lnSpc>
                <a:spcPct val="100000"/>
              </a:lnSpc>
              <a:spcBef>
                <a:spcPts val="0"/>
              </a:spcBef>
              <a:buNone/>
            </a:pPr>
            <a:r>
              <a:rPr lang="en-US" altLang="en-GB" sz="2400"/>
              <a:t>Sends prompt to LLM API (e.g., HuggingFace/OpenAI)</a:t>
            </a:r>
            <a:endParaRPr lang="en-US" altLang="en-GB" sz="2400"/>
          </a:p>
          <a:p>
            <a:pPr marL="0" indent="0" fontAlgn="auto">
              <a:lnSpc>
                <a:spcPct val="100000"/>
              </a:lnSpc>
              <a:spcBef>
                <a:spcPts val="0"/>
              </a:spcBef>
              <a:buNone/>
            </a:pPr>
            <a:r>
              <a:rPr lang="en-US" altLang="en-GB" sz="2400"/>
              <a:t>Receives analysis as structured response</a:t>
            </a:r>
            <a:endParaRPr lang="en-US" altLang="en-GB" sz="2400"/>
          </a:p>
          <a:p>
            <a:pPr marL="0" indent="0" fontAlgn="auto">
              <a:lnSpc>
                <a:spcPct val="100000"/>
              </a:lnSpc>
              <a:spcBef>
                <a:spcPts val="0"/>
              </a:spcBef>
              <a:buNone/>
            </a:pPr>
            <a:r>
              <a:rPr lang="en-US" altLang="en-GB" sz="2400" b="1"/>
              <a:t>Output Display &amp; Parsing</a:t>
            </a:r>
            <a:endParaRPr lang="en-US" altLang="en-GB" sz="2400" b="1"/>
          </a:p>
          <a:p>
            <a:pPr marL="0" indent="0" fontAlgn="auto">
              <a:lnSpc>
                <a:spcPct val="100000"/>
              </a:lnSpc>
              <a:spcBef>
                <a:spcPts val="0"/>
              </a:spcBef>
              <a:buNone/>
            </a:pPr>
            <a:r>
              <a:rPr lang="en-US" altLang="en-GB" sz="2400"/>
              <a:t>Formats and shows LLM response on UI</a:t>
            </a:r>
            <a:endParaRPr lang="en-US" altLang="en-GB" sz="2400"/>
          </a:p>
          <a:p>
            <a:pPr marL="0" indent="0" fontAlgn="auto">
              <a:lnSpc>
                <a:spcPct val="100000"/>
              </a:lnSpc>
              <a:spcBef>
                <a:spcPts val="0"/>
              </a:spcBef>
              <a:buNone/>
            </a:pPr>
            <a:r>
              <a:rPr lang="en-US" altLang="en-GB" sz="2400" b="1"/>
              <a:t>System Workflow</a:t>
            </a:r>
            <a:endParaRPr lang="en-US" altLang="en-GB" sz="2400" b="1"/>
          </a:p>
          <a:p>
            <a:pPr marL="0" indent="0" fontAlgn="auto">
              <a:lnSpc>
                <a:spcPct val="100000"/>
              </a:lnSpc>
              <a:spcBef>
                <a:spcPts val="0"/>
              </a:spcBef>
              <a:buNone/>
            </a:pPr>
            <a:r>
              <a:rPr lang="en-US" altLang="en-GB" sz="2400"/>
              <a:t>User inputs idea </a:t>
            </a:r>
            <a:r>
              <a:rPr lang="en-US" altLang="en-US" sz="2400"/>
              <a:t>→</a:t>
            </a:r>
            <a:r>
              <a:rPr lang="en-US" altLang="en-GB" sz="2400"/>
              <a:t> Prompt formatted </a:t>
            </a:r>
            <a:r>
              <a:rPr lang="en-US" altLang="en-US" sz="2400"/>
              <a:t>→</a:t>
            </a:r>
            <a:r>
              <a:rPr lang="en-US" altLang="en-GB" sz="2400"/>
              <a:t> Sent to LLM </a:t>
            </a:r>
            <a:r>
              <a:rPr lang="en-US" altLang="en-US" sz="2400"/>
              <a:t>→</a:t>
            </a:r>
            <a:r>
              <a:rPr lang="en-US" altLang="en-GB" sz="2400"/>
              <a:t> Receives insights </a:t>
            </a:r>
            <a:r>
              <a:rPr lang="en-US" altLang="en-US" sz="2400"/>
              <a:t>→</a:t>
            </a:r>
            <a:r>
              <a:rPr lang="en-US" altLang="en-GB" sz="2400"/>
              <a:t> Parsed and displayed in UI.</a:t>
            </a:r>
            <a:endParaRPr lang="en-US" altLang="en-GB" sz="2400"/>
          </a:p>
          <a:p>
            <a:pPr marL="0" indent="0" fontAlgn="auto">
              <a:lnSpc>
                <a:spcPct val="100000"/>
              </a:lnSpc>
              <a:spcBef>
                <a:spcPts val="0"/>
              </a:spcBef>
              <a:buNone/>
            </a:pPr>
            <a:endParaRPr lang="en-US" altLang="en-GB" sz="2400"/>
          </a:p>
          <a:p>
            <a:pPr marL="0" indent="0" fontAlgn="auto">
              <a:lnSpc>
                <a:spcPct val="100000"/>
              </a:lnSpc>
              <a:spcBef>
                <a:spcPts val="0"/>
              </a:spcBef>
              <a:buNone/>
            </a:pPr>
            <a:endParaRPr lang="en-US" altLang="en-GB" sz="24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GB"/>
              <a:t>Large Language Model</a:t>
            </a:r>
            <a:endParaRPr lang="en-US" altLang="en-GB"/>
          </a:p>
        </p:txBody>
      </p:sp>
      <p:sp>
        <p:nvSpPr>
          <p:cNvPr id="3" name="Content Placeholder 2"/>
          <p:cNvSpPr>
            <a:spLocks noGrp="1"/>
          </p:cNvSpPr>
          <p:nvPr>
            <p:ph idx="1"/>
          </p:nvPr>
        </p:nvSpPr>
        <p:spPr/>
        <p:txBody>
          <a:bodyPr>
            <a:noAutofit/>
          </a:bodyPr>
          <a:p>
            <a:r>
              <a:rPr lang="en-US" altLang="en-GB" sz="2400"/>
              <a:t>LLM stands for Large Language Model which is an AI system trained on massive amounts of text data (books, articles, code, websites, etc.) to understand and generate human-like text.</a:t>
            </a:r>
            <a:endParaRPr lang="en-US" altLang="en-GB" sz="2400"/>
          </a:p>
          <a:p>
            <a:r>
              <a:rPr lang="en-US" altLang="en-GB" sz="2400"/>
              <a:t>Examples: GPT (like me), LLaMA, Claude, Gemini.</a:t>
            </a:r>
            <a:endParaRPr lang="en-US" altLang="en-GB" sz="2400"/>
          </a:p>
          <a:p>
            <a:r>
              <a:rPr lang="en-US" altLang="en-GB" sz="2400"/>
              <a:t>They are called “large” because they have billions or even trillions of parameters (weights inside a neural network that capture patterns of   language).</a:t>
            </a:r>
            <a:endParaRPr lang="en-US" altLang="en-GB" sz="2400"/>
          </a:p>
          <a:p>
            <a:r>
              <a:rPr lang="en-US" altLang="en-GB" sz="2400"/>
              <a:t>LLMs are built on the Transformer architecture (Vaswani et al., 2017).</a:t>
            </a:r>
            <a:endParaRPr lang="en-US" altLang="en-GB" sz="2400"/>
          </a:p>
          <a:p>
            <a:pPr marL="0" indent="0">
              <a:buNone/>
            </a:pPr>
            <a:r>
              <a:rPr lang="en-US" altLang="en-GB" sz="2400"/>
              <a:t>“Attention is all you need” Paper.</a:t>
            </a:r>
            <a:endParaRPr lang="en-US" altLang="en-GB" sz="2400"/>
          </a:p>
          <a:p>
            <a:r>
              <a:rPr lang="en-US" altLang="en-GB" sz="2400"/>
              <a:t>Key idea is Self-Attention mechanism </a:t>
            </a:r>
            <a:r>
              <a:rPr lang="en-US" altLang="en-US" sz="2400"/>
              <a:t>→</a:t>
            </a:r>
            <a:r>
              <a:rPr lang="en-US" altLang="en-GB" sz="2400"/>
              <a:t> allows the model to look at all words in a sentence at once, and figure out which words matter most in context</a:t>
            </a:r>
            <a:endParaRPr lang="en-US" altLang="en-GB" sz="2400"/>
          </a:p>
          <a:p>
            <a:r>
              <a:rPr lang="en-US" altLang="en-GB" sz="2400"/>
              <a:t>Unlike older models (RNNs, LSTMs), Transformers can process text in parallel, making training much faster and scalable.</a:t>
            </a:r>
            <a:endParaRPr lang="en-US" altLang="en-GB" sz="2400"/>
          </a:p>
          <a:p>
            <a:pPr marL="0" indent="0">
              <a:buNone/>
            </a:pPr>
            <a:endParaRPr lang="en-US" altLang="en-GB" sz="24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GB" b="1"/>
              <a:t>Transformer Architecture</a:t>
            </a:r>
            <a:endParaRPr lang="en-US" altLang="en-GB" b="1"/>
          </a:p>
        </p:txBody>
      </p:sp>
      <p:sp>
        <p:nvSpPr>
          <p:cNvPr id="3" name="Content Placeholder 2"/>
          <p:cNvSpPr>
            <a:spLocks noGrp="1"/>
          </p:cNvSpPr>
          <p:nvPr>
            <p:ph sz="half" idx="1"/>
          </p:nvPr>
        </p:nvSpPr>
        <p:spPr/>
        <p:txBody>
          <a:bodyPr/>
          <a:p>
            <a:r>
              <a:rPr lang="en-US" altLang="en-GB"/>
              <a:t>Proposed in “Attention Is All You Need” (Vaswani et al., 2017).</a:t>
            </a:r>
            <a:endParaRPr lang="en-US" altLang="en-GB"/>
          </a:p>
          <a:p>
            <a:r>
              <a:rPr lang="en-US" altLang="en-GB"/>
              <a:t>Replaced RNNs/LSTMs by processing all words in parallel instead of sequentially.</a:t>
            </a:r>
            <a:endParaRPr lang="en-US" altLang="en-GB"/>
          </a:p>
          <a:p>
            <a:r>
              <a:rPr lang="en-US" altLang="en-GB"/>
              <a:t>Uses Attention Mechanism to capture context between words, no matter how far apart.</a:t>
            </a:r>
            <a:endParaRPr lang="en-US" altLang="en-GB"/>
          </a:p>
          <a:p>
            <a:endParaRPr lang="en-US" altLang="en-GB"/>
          </a:p>
        </p:txBody>
      </p:sp>
      <p:pic>
        <p:nvPicPr>
          <p:cNvPr id="9" name="Content Placeholder 8"/>
          <p:cNvPicPr>
            <a:picLocks noChangeAspect="1"/>
          </p:cNvPicPr>
          <p:nvPr>
            <p:ph sz="half" idx="2"/>
          </p:nvPr>
        </p:nvPicPr>
        <p:blipFill>
          <a:blip r:embed="rId1"/>
          <a:stretch>
            <a:fillRect/>
          </a:stretch>
        </p:blipFill>
        <p:spPr>
          <a:xfrm>
            <a:off x="6096000" y="1519555"/>
            <a:ext cx="5833110" cy="4810125"/>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sz="half" idx="1"/>
          </p:nvPr>
        </p:nvSpPr>
        <p:spPr>
          <a:xfrm>
            <a:off x="838200" y="454660"/>
            <a:ext cx="10514965" cy="59521725"/>
          </a:xfrm>
        </p:spPr>
        <p:txBody>
          <a:bodyPr/>
          <a:p>
            <a:pPr marL="0" indent="0">
              <a:buNone/>
            </a:pPr>
            <a:r>
              <a:rPr lang="en-US" altLang="en-GB" b="1"/>
              <a:t>Input Representation</a:t>
            </a:r>
            <a:endParaRPr lang="en-US" altLang="en-GB" b="1"/>
          </a:p>
          <a:p>
            <a:r>
              <a:rPr lang="en-US" altLang="en-GB"/>
              <a:t>Raw text </a:t>
            </a:r>
            <a:r>
              <a:rPr lang="en-US" altLang="en-US"/>
              <a:t>→</a:t>
            </a:r>
            <a:r>
              <a:rPr lang="en-US" altLang="en-GB"/>
              <a:t> Tokenization </a:t>
            </a:r>
            <a:r>
              <a:rPr lang="en-US" altLang="en-US"/>
              <a:t>→</a:t>
            </a:r>
            <a:r>
              <a:rPr lang="en-US" altLang="en-GB"/>
              <a:t> Embeddings.</a:t>
            </a:r>
            <a:endParaRPr lang="en-US" altLang="en-GB"/>
          </a:p>
          <a:p>
            <a:r>
              <a:rPr lang="en-US" altLang="en-GB"/>
              <a:t>Each word is mapped to a high-dimensional vector.</a:t>
            </a:r>
            <a:endParaRPr lang="en-US" altLang="en-GB"/>
          </a:p>
          <a:p>
            <a:r>
              <a:rPr lang="en-US" altLang="en-GB"/>
              <a:t>Positional Encoding is added, since Transformers don’t process words in order naturally.</a:t>
            </a:r>
            <a:endParaRPr lang="en-US" altLang="en-GB"/>
          </a:p>
          <a:p>
            <a:pPr marL="0" indent="0">
              <a:buNone/>
            </a:pPr>
            <a:r>
              <a:rPr lang="en-US" altLang="en-GB" b="1"/>
              <a:t>Encoder–Decoder Structure</a:t>
            </a:r>
            <a:endParaRPr lang="en-US" altLang="en-GB"/>
          </a:p>
          <a:p>
            <a:r>
              <a:rPr lang="en-US" altLang="en-GB"/>
              <a:t>Original Transformer had Encoder + Decoder (for translation tasks).</a:t>
            </a:r>
            <a:endParaRPr lang="en-US" altLang="en-GB"/>
          </a:p>
          <a:p>
            <a:r>
              <a:rPr lang="en-US" altLang="en-GB"/>
              <a:t>Encoder :Processes the input sequence via stacked layers—each with self-attention and feed-forward sublayers—to generate contextual embeddings.</a:t>
            </a:r>
            <a:endParaRPr lang="en-US" altLang="en-GB"/>
          </a:p>
          <a:p>
            <a:r>
              <a:rPr lang="en-US" altLang="en-GB"/>
              <a:t>Decoder:Generates the output sequence one token at a time using masked self-attention, cross-attention (to encoder outputs), and feed-forward layers</a:t>
            </a:r>
            <a:endParaRPr lang="en-US" altLang="en-GB"/>
          </a:p>
          <a:p>
            <a:r>
              <a:rPr lang="en-US" altLang="en-GB"/>
              <a:t>Most LLMs today (like GPT) use Decoder-only stacks (for generation).</a:t>
            </a:r>
            <a:endParaRPr lang="en-US" altLang="en-GB"/>
          </a:p>
          <a:p>
            <a:pPr marL="0" indent="0">
              <a:buNone/>
            </a:pPr>
            <a:endParaRPr lang="en-US" altLang="en-GB"/>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sz="half" idx="1"/>
          </p:nvPr>
        </p:nvSpPr>
        <p:spPr>
          <a:xfrm>
            <a:off x="838200" y="518795"/>
            <a:ext cx="10515600" cy="5658485"/>
          </a:xfrm>
        </p:spPr>
        <p:txBody>
          <a:bodyPr>
            <a:normAutofit fontScale="90000"/>
          </a:bodyPr>
          <a:p>
            <a:pPr marL="0" indent="0">
              <a:buNone/>
            </a:pPr>
            <a:r>
              <a:rPr lang="en-US" altLang="en-GB" b="1"/>
              <a:t>Multi-Head Self-Attention</a:t>
            </a:r>
            <a:endParaRPr lang="en-US" altLang="en-GB" b="1"/>
          </a:p>
          <a:p>
            <a:r>
              <a:rPr lang="en-US" altLang="en-GB" b="1"/>
              <a:t>Self-Attention:</a:t>
            </a:r>
            <a:r>
              <a:rPr lang="en-US" altLang="en-GB"/>
              <a:t> For each word (token), calculate its relation to every other word.</a:t>
            </a:r>
            <a:endParaRPr lang="en-US" altLang="en-GB"/>
          </a:p>
          <a:p>
            <a:r>
              <a:rPr lang="en-US" altLang="en-GB" b="1"/>
              <a:t>Mechanism:</a:t>
            </a:r>
            <a:endParaRPr lang="en-US" altLang="en-GB" b="1"/>
          </a:p>
          <a:p>
            <a:r>
              <a:rPr lang="en-US" altLang="en-GB"/>
              <a:t>Every token is converted into three vectors:</a:t>
            </a:r>
            <a:endParaRPr lang="en-US" altLang="en-GB"/>
          </a:p>
          <a:p>
            <a:r>
              <a:rPr lang="en-US" altLang="en-GB"/>
              <a:t>Query (Q) = What am I looking for?</a:t>
            </a:r>
            <a:endParaRPr lang="en-US" altLang="en-GB"/>
          </a:p>
          <a:p>
            <a:r>
              <a:rPr lang="en-US" altLang="en-GB"/>
              <a:t>Key (K) = What do I have?</a:t>
            </a:r>
            <a:endParaRPr lang="en-US" altLang="en-GB"/>
          </a:p>
          <a:p>
            <a:r>
              <a:rPr lang="en-US" altLang="en-GB"/>
              <a:t>Value (V) = What is my meaning?</a:t>
            </a:r>
            <a:endParaRPr lang="en-US" altLang="en-GB"/>
          </a:p>
          <a:p>
            <a:r>
              <a:rPr lang="en-US" altLang="en-GB"/>
              <a:t>Attention Score = similarity(Q, K).</a:t>
            </a:r>
            <a:endParaRPr lang="en-US" altLang="en-GB"/>
          </a:p>
          <a:p>
            <a:r>
              <a:rPr lang="en-US" altLang="en-GB"/>
              <a:t>Weighted sum of V = Context for each word.</a:t>
            </a:r>
            <a:endParaRPr lang="en-US" altLang="en-GB"/>
          </a:p>
          <a:p>
            <a:r>
              <a:rPr lang="en-US" altLang="en-GB" b="1"/>
              <a:t>Multi-Head Attention:</a:t>
            </a:r>
            <a:r>
              <a:rPr lang="en-US" altLang="en-GB"/>
              <a:t> Do this in parallel multiple times, so the model can capture different relationships (syntax, semantics, long-range dependencies).</a:t>
            </a:r>
            <a:endParaRPr lang="en-US" altLang="en-GB"/>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sz="half" idx="1"/>
          </p:nvPr>
        </p:nvSpPr>
        <p:spPr>
          <a:xfrm>
            <a:off x="838200" y="583565"/>
            <a:ext cx="10516235" cy="5593715"/>
          </a:xfrm>
        </p:spPr>
        <p:txBody>
          <a:bodyPr>
            <a:noAutofit/>
          </a:bodyPr>
          <a:p>
            <a:pPr marL="0" indent="0">
              <a:buNone/>
            </a:pPr>
            <a:r>
              <a:rPr lang="en-US" altLang="en-GB" sz="2400" b="1"/>
              <a:t>Feedforward Network</a:t>
            </a:r>
            <a:endParaRPr lang="en-US" altLang="en-GB" sz="2400" b="1"/>
          </a:p>
          <a:p>
            <a:r>
              <a:rPr lang="en-US" altLang="en-GB" sz="2400"/>
              <a:t>After attention, each word’s representation passes through small neural networks (same for all words).</a:t>
            </a:r>
            <a:endParaRPr lang="en-US" altLang="en-GB" sz="2400"/>
          </a:p>
          <a:p>
            <a:r>
              <a:rPr lang="en-US" altLang="en-GB" sz="2400"/>
              <a:t>Helps refine and add non-linearity</a:t>
            </a:r>
            <a:endParaRPr lang="en-US" altLang="en-GB" sz="2400"/>
          </a:p>
          <a:p>
            <a:pPr marL="0" indent="0">
              <a:buNone/>
            </a:pPr>
            <a:r>
              <a:rPr lang="en-US" altLang="en-GB" sz="2400" b="1"/>
              <a:t>Residual Connections &amp; Layer Normalization</a:t>
            </a:r>
            <a:endParaRPr lang="en-US" altLang="en-GB" sz="2400" b="1"/>
          </a:p>
          <a:p>
            <a:r>
              <a:rPr lang="en-US" altLang="en-GB" sz="2400"/>
              <a:t>Each sub-layer has a skip connection (output + input) </a:t>
            </a:r>
            <a:r>
              <a:rPr lang="en-US" altLang="en-US" sz="2400"/>
              <a:t>→</a:t>
            </a:r>
            <a:r>
              <a:rPr lang="en-US" altLang="en-GB" sz="2400"/>
              <a:t> prevents information loss.</a:t>
            </a:r>
            <a:endParaRPr lang="en-US" altLang="en-GB" sz="2400"/>
          </a:p>
          <a:p>
            <a:r>
              <a:rPr lang="en-US" altLang="en-GB" sz="2400"/>
              <a:t>LayerNorm stabilizes training and improves performance.</a:t>
            </a:r>
            <a:endParaRPr lang="en-US" altLang="en-GB" sz="2400"/>
          </a:p>
          <a:p>
            <a:pPr marL="0" indent="0">
              <a:buNone/>
            </a:pPr>
            <a:r>
              <a:rPr lang="en-US" altLang="en-GB" sz="2400" b="1"/>
              <a:t>Stacking Layers</a:t>
            </a:r>
            <a:endParaRPr lang="en-US" altLang="en-GB" sz="2400" b="1"/>
          </a:p>
          <a:p>
            <a:r>
              <a:rPr lang="en-US" altLang="en-GB" sz="2400"/>
              <a:t>Transformers use many such layers stacked (12, 24, 96+).</a:t>
            </a:r>
            <a:endParaRPr lang="en-US" altLang="en-GB" sz="2400"/>
          </a:p>
          <a:p>
            <a:r>
              <a:rPr lang="en-US" altLang="en-GB" sz="2400"/>
              <a:t>Lower layers capture local meaning (e.g., “food </a:t>
            </a:r>
            <a:r>
              <a:rPr lang="en-US" altLang="en-US" sz="2400"/>
              <a:t>↔</a:t>
            </a:r>
            <a:r>
              <a:rPr lang="en-US" altLang="en-GB" sz="2400"/>
              <a:t> waste”), higher layers capture abstract concepts (e.g., “sustainable business model”).</a:t>
            </a:r>
            <a:endParaRPr lang="en-US" altLang="en-GB" sz="2400"/>
          </a:p>
          <a:p>
            <a:pPr marL="0" indent="0">
              <a:buNone/>
            </a:pPr>
            <a:r>
              <a:rPr lang="en-US" altLang="en-GB" sz="2400" b="1"/>
              <a:t>Output Layer</a:t>
            </a:r>
            <a:endParaRPr lang="en-US" altLang="en-GB" sz="2400" b="1"/>
          </a:p>
          <a:p>
            <a:r>
              <a:rPr lang="en-US" altLang="en-GB" sz="2400"/>
              <a:t>Final vector representations go to a Softmax classifier </a:t>
            </a:r>
            <a:r>
              <a:rPr lang="en-US" altLang="en-US" sz="2400"/>
              <a:t>→</a:t>
            </a:r>
            <a:r>
              <a:rPr lang="en-US" altLang="en-GB" sz="2400"/>
              <a:t> predicts probability distribution over the vocabulary.</a:t>
            </a:r>
            <a:endParaRPr lang="en-US" altLang="en-GB" sz="2400"/>
          </a:p>
          <a:p>
            <a:r>
              <a:rPr lang="en-US" altLang="en-GB" sz="2400"/>
              <a:t>The model generates one token at a time until a full response is formed.</a:t>
            </a:r>
            <a:endParaRPr lang="en-US" altLang="en-GB" sz="24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GB"/>
              <a:t>Mistral 7B Instruct LLM </a:t>
            </a:r>
            <a:endParaRPr lang="en-US" altLang="en-GB"/>
          </a:p>
        </p:txBody>
      </p:sp>
      <p:sp>
        <p:nvSpPr>
          <p:cNvPr id="3" name="Content Placeholder 2"/>
          <p:cNvSpPr>
            <a:spLocks noGrp="1"/>
          </p:cNvSpPr>
          <p:nvPr>
            <p:ph sz="half" idx="1"/>
          </p:nvPr>
        </p:nvSpPr>
        <p:spPr>
          <a:xfrm>
            <a:off x="838200" y="1825625"/>
            <a:ext cx="10635615" cy="4351655"/>
          </a:xfrm>
        </p:spPr>
        <p:txBody>
          <a:bodyPr>
            <a:normAutofit/>
          </a:bodyPr>
          <a:p>
            <a:r>
              <a:rPr lang="en-US" altLang="en-GB"/>
              <a:t>Open-Source &amp; Lightweight </a:t>
            </a:r>
            <a:r>
              <a:rPr lang="en-US" altLang="en-US"/>
              <a:t>→</a:t>
            </a:r>
            <a:r>
              <a:rPr lang="en-US" altLang="en-GB"/>
              <a:t> 7B parameters, efficient but powerful.</a:t>
            </a:r>
            <a:endParaRPr lang="en-US" altLang="en-GB"/>
          </a:p>
          <a:p>
            <a:r>
              <a:rPr lang="en-US" altLang="en-GB"/>
              <a:t> Fast Inference </a:t>
            </a:r>
            <a:r>
              <a:rPr lang="en-US" altLang="en-US"/>
              <a:t>→</a:t>
            </a:r>
            <a:r>
              <a:rPr lang="en-US" altLang="en-GB"/>
              <a:t> Sliding Window Attention &amp; Grouped-Query Attention optimize speed.</a:t>
            </a:r>
            <a:endParaRPr lang="en-US" altLang="en-GB"/>
          </a:p>
          <a:p>
            <a:r>
              <a:rPr lang="en-US" altLang="en-GB"/>
              <a:t>High-Quality Reasoning </a:t>
            </a:r>
            <a:r>
              <a:rPr lang="en-US" altLang="en-US"/>
              <a:t>→</a:t>
            </a:r>
            <a:r>
              <a:rPr lang="en-US" altLang="en-GB"/>
              <a:t> Performs competitively with larger models on many tasks.</a:t>
            </a:r>
            <a:endParaRPr lang="en-US" altLang="en-GB"/>
          </a:p>
          <a:p>
            <a:r>
              <a:rPr lang="en-US" altLang="en-GB"/>
              <a:t>Cost-Effective </a:t>
            </a:r>
            <a:r>
              <a:rPr lang="en-US" altLang="en-US"/>
              <a:t>→</a:t>
            </a:r>
            <a:r>
              <a:rPr lang="en-US" altLang="en-GB"/>
              <a:t> Cheaper to run than GPT-4/Claude </a:t>
            </a:r>
            <a:r>
              <a:rPr lang="en-US" altLang="en-US"/>
              <a:t>→</a:t>
            </a:r>
            <a:r>
              <a:rPr lang="en-US" altLang="en-GB"/>
              <a:t> practical for startups.</a:t>
            </a:r>
            <a:endParaRPr lang="en-US" altLang="en-GB"/>
          </a:p>
          <a:p>
            <a:r>
              <a:rPr lang="en-US" altLang="en-GB"/>
              <a:t>Flexibility </a:t>
            </a:r>
            <a:r>
              <a:rPr lang="en-US" altLang="en-US"/>
              <a:t>→</a:t>
            </a:r>
            <a:r>
              <a:rPr lang="en-US" altLang="en-GB"/>
              <a:t> Easy to integrate via API + suitable for prompt engineering.</a:t>
            </a:r>
            <a:endParaRPr lang="en-US" altLang="en-GB"/>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365125"/>
            <a:ext cx="10515600" cy="983615"/>
          </a:xfrm>
        </p:spPr>
        <p:txBody>
          <a:bodyPr/>
          <a:p>
            <a:r>
              <a:rPr lang="en-US" altLang="en-GB" b="1"/>
              <a:t>Workflow</a:t>
            </a:r>
            <a:endParaRPr lang="en-US" altLang="en-GB" b="1"/>
          </a:p>
        </p:txBody>
      </p:sp>
      <p:sp>
        <p:nvSpPr>
          <p:cNvPr id="3" name="Content Placeholder 2"/>
          <p:cNvSpPr>
            <a:spLocks noGrp="1"/>
          </p:cNvSpPr>
          <p:nvPr>
            <p:ph sz="half" idx="1"/>
          </p:nvPr>
        </p:nvSpPr>
        <p:spPr>
          <a:xfrm>
            <a:off x="838200" y="1216025"/>
            <a:ext cx="10699750" cy="4961255"/>
          </a:xfrm>
        </p:spPr>
        <p:txBody>
          <a:bodyPr>
            <a:normAutofit fontScale="90000" lnSpcReduction="20000"/>
          </a:bodyPr>
          <a:p>
            <a:r>
              <a:rPr lang="en-US" altLang="en-GB" b="1"/>
              <a:t>User Input:</a:t>
            </a:r>
            <a:r>
              <a:rPr lang="en-US" altLang="en-GB"/>
              <a:t> Founder types a raw idea in plain English and tune this input into prompt using prompt techniques and the tuned prompt is given as input to LLM via API</a:t>
            </a:r>
            <a:endParaRPr lang="en-US" altLang="en-GB"/>
          </a:p>
          <a:p>
            <a:r>
              <a:rPr lang="en-US" altLang="en-GB" b="1"/>
              <a:t>Tokenize &amp; Embed:</a:t>
            </a:r>
            <a:r>
              <a:rPr lang="en-US" altLang="en-GB"/>
              <a:t> Text </a:t>
            </a:r>
            <a:r>
              <a:rPr lang="en-US" altLang="en-US"/>
              <a:t>→</a:t>
            </a:r>
            <a:r>
              <a:rPr lang="en-US" altLang="en-GB"/>
              <a:t> tokens </a:t>
            </a:r>
            <a:r>
              <a:rPr lang="en-US" altLang="en-US"/>
              <a:t>→</a:t>
            </a:r>
            <a:r>
              <a:rPr lang="en-US" altLang="en-GB"/>
              <a:t> numerical vectors (embeddings) for meaning.</a:t>
            </a:r>
            <a:endParaRPr lang="en-US" altLang="en-GB"/>
          </a:p>
          <a:p>
            <a:r>
              <a:rPr lang="en-US" altLang="en-GB" b="1"/>
              <a:t>Understand (Transformer) </a:t>
            </a:r>
            <a:endParaRPr lang="en-US" altLang="en-GB" b="1"/>
          </a:p>
          <a:p>
            <a:r>
              <a:rPr lang="en-US" altLang="en-GB"/>
              <a:t>Self-Attention weighs relationships across all words</a:t>
            </a:r>
            <a:endParaRPr lang="en-US" altLang="en-GB"/>
          </a:p>
          <a:p>
            <a:r>
              <a:rPr lang="en-US" altLang="en-GB"/>
              <a:t>Multi-Head captures different patterns (semantics, position, dependencies).</a:t>
            </a:r>
            <a:endParaRPr lang="en-US" altLang="en-GB"/>
          </a:p>
          <a:p>
            <a:r>
              <a:rPr lang="en-US" altLang="en-GB"/>
              <a:t>Stacked Layers build from surface meaning </a:t>
            </a:r>
            <a:r>
              <a:rPr lang="en-US" altLang="en-US"/>
              <a:t>→</a:t>
            </a:r>
            <a:r>
              <a:rPr lang="en-US" altLang="en-GB"/>
              <a:t> business concepts.</a:t>
            </a:r>
            <a:endParaRPr lang="en-US" altLang="en-GB"/>
          </a:p>
          <a:p>
            <a:r>
              <a:rPr lang="en-US" altLang="en-GB" b="1"/>
              <a:t>Generate</a:t>
            </a:r>
            <a:r>
              <a:rPr lang="en-US" altLang="en-GB"/>
              <a:t>: Next-token prediction produces structured insights:</a:t>
            </a:r>
            <a:endParaRPr lang="en-US" altLang="en-GB"/>
          </a:p>
          <a:p>
            <a:r>
              <a:rPr lang="en-US" altLang="en-GB"/>
              <a:t>SWOT · Competitors · Monetization · MVP features · Market notes.</a:t>
            </a:r>
            <a:endParaRPr lang="en-US" altLang="en-GB"/>
          </a:p>
          <a:p>
            <a:r>
              <a:rPr lang="en-US" altLang="en-GB" b="1"/>
              <a:t>Parse &amp; Display: </a:t>
            </a:r>
            <a:r>
              <a:rPr lang="en-US" altLang="en-GB"/>
              <a:t>Output is parsed into sections and shown in the Streamlit UI for clear, actionable results.</a:t>
            </a:r>
            <a:endParaRPr lang="en-US" altLang="en-GB"/>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GB" altLang="en-US"/>
          </a:p>
        </p:txBody>
      </p:sp>
      <p:pic>
        <p:nvPicPr>
          <p:cNvPr id="27" name="Picture 4"/>
          <p:cNvPicPr>
            <a:picLocks noChangeAspect="1"/>
          </p:cNvPicPr>
          <p:nvPr>
            <p:ph idx="1"/>
          </p:nvPr>
        </p:nvPicPr>
        <p:blipFill>
          <a:blip r:embed="rId1"/>
          <a:stretch>
            <a:fillRect/>
          </a:stretch>
        </p:blipFill>
        <p:spPr>
          <a:xfrm>
            <a:off x="838200" y="365125"/>
            <a:ext cx="10515600" cy="595566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GB" altLang="en-US"/>
          </a:p>
        </p:txBody>
      </p:sp>
      <p:pic>
        <p:nvPicPr>
          <p:cNvPr id="28" name="Picture 5"/>
          <p:cNvPicPr>
            <a:picLocks noChangeAspect="1"/>
          </p:cNvPicPr>
          <p:nvPr>
            <p:ph idx="1"/>
          </p:nvPr>
        </p:nvPicPr>
        <p:blipFill>
          <a:blip r:embed="rId1"/>
          <a:stretch>
            <a:fillRect/>
          </a:stretch>
        </p:blipFill>
        <p:spPr>
          <a:xfrm>
            <a:off x="694690" y="616585"/>
            <a:ext cx="10659110" cy="582866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GB" altLang="en-US"/>
          </a:p>
        </p:txBody>
      </p:sp>
      <p:pic>
        <p:nvPicPr>
          <p:cNvPr id="30" name="Picture 7"/>
          <p:cNvPicPr>
            <a:picLocks noChangeAspect="1"/>
          </p:cNvPicPr>
          <p:nvPr>
            <p:ph idx="1"/>
          </p:nvPr>
        </p:nvPicPr>
        <p:blipFill>
          <a:blip r:embed="rId1"/>
          <a:stretch>
            <a:fillRect/>
          </a:stretch>
        </p:blipFill>
        <p:spPr>
          <a:xfrm>
            <a:off x="728980" y="365760"/>
            <a:ext cx="10624820" cy="608139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GB" altLang="en-US"/>
          </a:p>
        </p:txBody>
      </p:sp>
      <p:pic>
        <p:nvPicPr>
          <p:cNvPr id="31" name="Picture 8"/>
          <p:cNvPicPr>
            <a:picLocks noChangeAspect="1"/>
          </p:cNvPicPr>
          <p:nvPr>
            <p:ph idx="1"/>
          </p:nvPr>
        </p:nvPicPr>
        <p:blipFill>
          <a:blip r:embed="rId1"/>
          <a:stretch>
            <a:fillRect/>
          </a:stretch>
        </p:blipFill>
        <p:spPr>
          <a:xfrm>
            <a:off x="954405" y="364490"/>
            <a:ext cx="10504170" cy="581279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GB" b="1"/>
              <a:t>Evalaution and Challenges</a:t>
            </a:r>
            <a:endParaRPr lang="en-US" altLang="en-GB" b="1"/>
          </a:p>
        </p:txBody>
      </p:sp>
      <p:sp>
        <p:nvSpPr>
          <p:cNvPr id="3" name="Content Placeholder 2"/>
          <p:cNvSpPr>
            <a:spLocks noGrp="1"/>
          </p:cNvSpPr>
          <p:nvPr>
            <p:ph idx="1"/>
          </p:nvPr>
        </p:nvSpPr>
        <p:spPr/>
        <p:txBody>
          <a:bodyPr>
            <a:normAutofit fontScale="90000"/>
          </a:bodyPr>
          <a:p>
            <a:pPr marL="0" indent="0">
              <a:buNone/>
            </a:pPr>
            <a:r>
              <a:rPr lang="en-US" altLang="en-GB" b="1"/>
              <a:t>Strengths</a:t>
            </a:r>
            <a:endParaRPr lang="en-US" altLang="en-GB" b="1"/>
          </a:p>
          <a:p>
            <a:r>
              <a:rPr lang="en-US" altLang="en-GB"/>
              <a:t>Quick, accessible, structured insights</a:t>
            </a:r>
            <a:endParaRPr lang="en-US" altLang="en-GB"/>
          </a:p>
          <a:p>
            <a:r>
              <a:rPr lang="en-US" altLang="en-GB"/>
              <a:t>Works for any domain (tech, healthcare, sustainability).</a:t>
            </a:r>
            <a:endParaRPr lang="en-US" altLang="en-GB"/>
          </a:p>
          <a:p>
            <a:pPr marL="0" indent="0">
              <a:buNone/>
            </a:pPr>
            <a:r>
              <a:rPr lang="en-US" altLang="en-GB" b="1"/>
              <a:t>Limitations:</a:t>
            </a:r>
            <a:endParaRPr lang="en-US" altLang="en-GB" b="1"/>
          </a:p>
          <a:p>
            <a:r>
              <a:rPr lang="en-US" altLang="en-GB"/>
              <a:t>May produce generic or hallucinated outputs.</a:t>
            </a:r>
            <a:endParaRPr lang="en-US" altLang="en-GB"/>
          </a:p>
          <a:p>
            <a:r>
              <a:rPr lang="en-US" altLang="en-GB"/>
              <a:t>No real-time market data integration (yet).</a:t>
            </a:r>
            <a:endParaRPr lang="en-US" altLang="en-GB"/>
          </a:p>
          <a:p>
            <a:r>
              <a:rPr lang="en-US" altLang="en-GB"/>
              <a:t>Lacks domain-specific fine-tuning.</a:t>
            </a:r>
            <a:endParaRPr lang="en-US" altLang="en-GB"/>
          </a:p>
          <a:p>
            <a:pPr marL="0" indent="0">
              <a:buNone/>
            </a:pPr>
            <a:r>
              <a:rPr lang="en-US" altLang="en-GB" b="1"/>
              <a:t>Evaluation: </a:t>
            </a:r>
            <a:r>
              <a:rPr lang="en-US" altLang="en-GB"/>
              <a:t>Tested with 10–15 startup ideas </a:t>
            </a:r>
            <a:r>
              <a:rPr lang="en-US" altLang="en-US"/>
              <a:t>→</a:t>
            </a:r>
            <a:r>
              <a:rPr lang="en-US" altLang="en-GB"/>
              <a:t> feedback showed useful but sometimes repetitive results.</a:t>
            </a:r>
            <a:endParaRPr lang="en-US" altLang="en-GB"/>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GB" b="1"/>
              <a:t>Conclusion</a:t>
            </a:r>
            <a:endParaRPr lang="en-US" altLang="en-GB" b="1"/>
          </a:p>
        </p:txBody>
      </p:sp>
      <p:sp>
        <p:nvSpPr>
          <p:cNvPr id="3" name="Content Placeholder 2"/>
          <p:cNvSpPr>
            <a:spLocks noGrp="1"/>
          </p:cNvSpPr>
          <p:nvPr>
            <p:ph idx="1"/>
          </p:nvPr>
        </p:nvSpPr>
        <p:spPr/>
        <p:txBody>
          <a:bodyPr/>
          <a:p>
            <a:pPr marL="0" indent="0">
              <a:buNone/>
            </a:pPr>
            <a:r>
              <a:rPr lang="en-US" altLang="en-GB"/>
              <a:t>The proposed Startup Idea Validator system leverages the capabilities of Large Language Models (LLMs) to assess, analyze, and provide structured feedback on user-submitted startup ideas. By integrating prompt engineering, API-based LLM interactions, and a user-friendly web interface, the system can evaluate ideas on parameters like market potential, competitor landscape, monetization strategies, and MVP features. This eliminates the need for extensive manual research and supports entrepreneurs in the early validation phase. The system demonstrates the potential of generative AI in the startup ecosystem and highlights how LLMs can automate knowledge-based analysis across domains.</a:t>
            </a:r>
            <a:endParaRPr lang="en-US" altLang="en-GB"/>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710565" y="189865"/>
            <a:ext cx="10515600" cy="744220"/>
          </a:xfrm>
        </p:spPr>
        <p:txBody>
          <a:bodyPr>
            <a:normAutofit fontScale="90000"/>
          </a:bodyPr>
          <a:p>
            <a:r>
              <a:rPr lang="en-US" altLang="en-GB" b="1"/>
              <a:t>Future Scope</a:t>
            </a:r>
            <a:endParaRPr lang="en-US" altLang="en-GB" b="1"/>
          </a:p>
        </p:txBody>
      </p:sp>
      <p:sp>
        <p:nvSpPr>
          <p:cNvPr id="3" name="Content Placeholder 2"/>
          <p:cNvSpPr>
            <a:spLocks noGrp="1"/>
          </p:cNvSpPr>
          <p:nvPr>
            <p:ph idx="1"/>
          </p:nvPr>
        </p:nvSpPr>
        <p:spPr>
          <a:xfrm>
            <a:off x="838200" y="933450"/>
            <a:ext cx="10515600" cy="5785485"/>
          </a:xfrm>
        </p:spPr>
        <p:txBody>
          <a:bodyPr>
            <a:noAutofit/>
          </a:bodyPr>
          <a:p>
            <a:r>
              <a:rPr lang="en-US" altLang="en-GB" sz="2400" b="1"/>
              <a:t>Fine-Tuning Domain-Specific LLMs</a:t>
            </a:r>
            <a:r>
              <a:rPr lang="en-US" altLang="en-GB" sz="2400"/>
              <a:t>: Future enhancements can include training or fine-tuning LLMs on startup and entrepreneurial datasets (e.g., Crunchbase, YCombinator pitches, etc.) to improve output relevance and reduce generic responses.</a:t>
            </a:r>
            <a:endParaRPr lang="en-US" altLang="en-GB" sz="2400"/>
          </a:p>
          <a:p>
            <a:r>
              <a:rPr lang="en-US" altLang="en-GB" sz="2400" b="1"/>
              <a:t>Multi-Language Support:</a:t>
            </a:r>
            <a:r>
              <a:rPr lang="en-US" altLang="en-GB" sz="2400"/>
              <a:t> Incorporating multilingual capabilities using translation APIs or multilingual models (like mBERT or XLM-R) to support idea validation in regional languages, thus expanding accessibility to non-English users.</a:t>
            </a:r>
            <a:endParaRPr lang="en-US" altLang="en-GB" sz="2400"/>
          </a:p>
          <a:p>
            <a:r>
              <a:rPr lang="en-US" altLang="en-GB" sz="2400" b="1"/>
              <a:t>Integration with Real-Time Data Sources:</a:t>
            </a:r>
            <a:r>
              <a:rPr lang="en-US" altLang="en-GB" sz="2400"/>
              <a:t> Enhancing validation by integrating APIs like Google Trends, AngelList, and LinkedIn to provide up-to-date competitor analysis and market signals.</a:t>
            </a:r>
            <a:endParaRPr lang="en-US" altLang="en-GB" sz="2400"/>
          </a:p>
          <a:p>
            <a:r>
              <a:rPr lang="en-US" altLang="en-GB" sz="2400" b="1"/>
              <a:t>Feedback Loop and Reinforcement Learning:</a:t>
            </a:r>
            <a:r>
              <a:rPr lang="en-US" altLang="en-GB" sz="2400"/>
              <a:t> Implementing a feedback mechanism where user ratings of LLM suggestions are used to refine future responses via reinforcement learning or prompt tuning.</a:t>
            </a:r>
            <a:endParaRPr lang="en-US" altLang="en-GB" sz="2400"/>
          </a:p>
          <a:p>
            <a:r>
              <a:rPr lang="en-US" altLang="en-GB" sz="2400" b="1"/>
              <a:t>Idea Feasibility Scoring System</a:t>
            </a:r>
            <a:r>
              <a:rPr lang="en-US" altLang="en-GB" sz="2400"/>
              <a:t>: Introducing a quantifiable scoring mechanism that evaluates startup ideas based on AI-evaluated metrics such as innovation level, market readiness, and risk factors.</a:t>
            </a:r>
            <a:endParaRPr lang="en-US" altLang="en-GB" sz="240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2580640"/>
            <a:ext cx="10515600" cy="1994535"/>
          </a:xfrm>
        </p:spPr>
        <p:txBody>
          <a:bodyPr/>
          <a:p>
            <a:pPr algn="ctr"/>
            <a:r>
              <a:rPr lang="en-US" altLang="en-GB" sz="8000" b="1"/>
              <a:t>Thank You</a:t>
            </a:r>
            <a:endParaRPr lang="en-US" altLang="en-GB" sz="8000" b="1"/>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8053</Words>
  <Application>WPS Presentation</Application>
  <PresentationFormat>Widescreen</PresentationFormat>
  <Paragraphs>131</Paragraphs>
  <Slides>19</Slides>
  <Notes>0</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19</vt:i4>
      </vt:variant>
    </vt:vector>
  </HeadingPairs>
  <TitlesOfParts>
    <vt:vector size="27" baseType="lpstr">
      <vt:lpstr>Arial</vt:lpstr>
      <vt:lpstr>SimSun</vt:lpstr>
      <vt:lpstr>Wingdings</vt:lpstr>
      <vt:lpstr>Calibri Light</vt:lpstr>
      <vt:lpstr>Calibri</vt:lpstr>
      <vt:lpstr>Microsoft YaHei</vt:lpstr>
      <vt:lpstr>Arial Unicode MS</vt:lpstr>
      <vt:lpstr>Office Theme</vt:lpstr>
      <vt:lpstr>StartUp Idea Validator Using LLM</vt:lpstr>
      <vt:lpstr>Abstract</vt:lpstr>
      <vt:lpstr>Motivation</vt:lpstr>
      <vt:lpstr>Proposed Model &amp;Workflow</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Conclusion</vt:lpstr>
      <vt:lpstr>Future Scope</vt:lpstr>
      <vt:lpstr>Thank You</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StartUp Idea Validator Using LLM</dc:title>
  <dc:creator/>
  <cp:lastModifiedBy>N200373 KALLURI HARSHITHA</cp:lastModifiedBy>
  <cp:revision>2</cp:revision>
  <dcterms:created xsi:type="dcterms:W3CDTF">2025-07-28T16:34:00Z</dcterms:created>
  <dcterms:modified xsi:type="dcterms:W3CDTF">2025-08-18T15:28:10Z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C30D7E79C88B4D4C8553C890B79E610D_11</vt:lpwstr>
  </property>
  <property fmtid="{D5CDD505-2E9C-101B-9397-08002B2CF9AE}" pid="3" name="KSOProductBuildVer">
    <vt:lpwstr>2057-12.2.0.21936</vt:lpwstr>
  </property>
</Properties>
</file>